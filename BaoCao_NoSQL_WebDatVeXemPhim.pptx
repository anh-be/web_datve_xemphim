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E11D48"/>
                </a:solidFill>
                <a:latin typeface="Segoe UI"/>
              </a:defRPr>
            </a:pPr>
            <a:r>
              <a:t>ỨNG DỤNG BÁO CÁO CSDL NOSQL</a:t>
            </a:r>
          </a:p>
          <a:p>
            <a:pPr>
              <a:spcAft>
                <a:spcPts val="2400"/>
              </a:spcAft>
              <a:defRPr sz="2200">
                <a:solidFill>
                  <a:srgbClr val="F59E0B"/>
                </a:solidFill>
                <a:latin typeface="Segoe UI"/>
              </a:defRPr>
            </a:pPr>
            <a:r>
              <a:t>Tích hợp Redis Caching &amp; Neo4j Graph Database vào Web Đặt Vé Xem Phim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Sinh viên thực hiện: Lê Ngọc Anh</a:t>
            </a:r>
          </a:p>
          <a:p>
            <a:pPr>
              <a:defRPr sz="1400">
                <a:solidFill>
                  <a:srgbClr val="9CA3AF"/>
                </a:solidFill>
                <a:latin typeface="Segoe UI"/>
              </a:defRPr>
            </a:pPr>
            <a:r>
              <a:t>Môn học: Các hệ cơ sở dữ liệu NoSQL (Đồ án Cuối kỳ)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TỔNG QUAN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E11D48"/>
                </a:solidFill>
                <a:latin typeface="Segoe UI"/>
              </a:defRPr>
            </a:pPr>
            <a:r>
              <a:t>Kiến Trúc Đa Lưu Trữ (Polyglot Persistence)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Hệ thống Movana Cinema kết hợp hài hòa RDBMS và các mô hình NoSQL khác nhau:</a:t>
            </a:r>
          </a:p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Segoe UI"/>
              </a:defRPr>
            </a:pPr>
            <a:r>
              <a:t>✔ MS SQL Server (RDBMS): </a:t>
            </a:r>
            <a:r>
              <a:rPr sz="1500">
                <a:solidFill>
                  <a:srgbClr val="F3F4F6"/>
                </a:solidFill>
                <a:latin typeface="Segoe UI"/>
              </a:rPr>
              <a:t>Quản lý dữ liệu giao dịch cốt lõi có ràng buộc khóa ngoại (Users, Movies, Showtimes, Seats, Bookings).</a:t>
            </a:r>
          </a:p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Segoe UI"/>
              </a:defRPr>
            </a:pPr>
            <a:r>
              <a:t>✔ Redis (Key-Value RAM): </a:t>
            </a:r>
            <a:r>
              <a:rPr sz="1500">
                <a:solidFill>
                  <a:srgbClr val="F3F4F6"/>
                </a:solidFill>
                <a:latin typeface="Segoe UI"/>
              </a:rPr>
              <a:t>Cache bộ nhớ đệm tạm thời cho các hoạt động thời gian thực (Seat Lock 90s, Cart 10m, OTP Gmail, User Sessions).</a:t>
            </a:r>
          </a:p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Segoe UI"/>
              </a:defRPr>
            </a:pPr>
            <a:r>
              <a:t>✔ MongoDB (Document Store): </a:t>
            </a:r>
            <a:r>
              <a:rPr sz="1500">
                <a:solidFill>
                  <a:srgbClr val="F3F4F6"/>
                </a:solidFill>
                <a:latin typeface="Segoe UI"/>
              </a:rPr>
              <a:t>Lưu trữ tài liệu bán cấu trúc linh hoạt (Cinema Promotions/Vouchers, Customer Feedbacks &amp; Conversations).</a:t>
            </a:r>
          </a:p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Segoe UI"/>
              </a:defRPr>
            </a:pPr>
            <a:r>
              <a:t>✔ Neo4j (Graph Database): </a:t>
            </a:r>
            <a:r>
              <a:rPr sz="1500">
                <a:solidFill>
                  <a:srgbClr val="F3F4F6"/>
                </a:solidFill>
                <a:latin typeface="Segoe UI"/>
              </a:rPr>
              <a:t>Biểu diễn mối quan hệ đồ thị khách hàng, thể loại và phim, chạy thuật toán Gợi ý phim thông minh.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PHẦN 1: REDIS CACHING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E11D48"/>
                </a:solidFill>
                <a:latin typeface="Segoe UI"/>
              </a:defRPr>
            </a:pPr>
            <a:r>
              <a:t>1. Khóa Ghế Tạm Thời (Atomic Seat Lock)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Mục đích &amp; Cách hoạt động: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Khóa ghế tạm trong 90 giây khi khách hàng chọn ghế trên sơ đồ.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Sử dụng cờ NX (Not Exists): Đảm bảo tính nguyên tử (Atomic Lock), chỉ người đầu tiên gửi yêu cầu mới tạo được khóa.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Ngăn chặn hoàn toàn tình trạng hai khách đặt trùng một ghế.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10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&gt;_ REDIS CLI</a:t>
            </a:r>
          </a:p>
          <a:p>
            <a:pPr>
              <a:spcAft>
                <a:spcPts val="3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# Khóa ghế 15 suất 102 cho Khách 5 trong 90s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SET seatlock:102:15 "Customer_5" NX EX 90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# Kiểm tra thời gian giữ ghế còn lại (TTL)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TTL seatlock:102:15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# Hủy khóa ghế (khi đổi ý chọn lại hoặc đã thanh toán)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DEL seatlock:102:15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PHẦN 1: REDIS CACHING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E11D48"/>
                </a:solidFill>
                <a:latin typeface="Segoe UI"/>
              </a:defRPr>
            </a:pPr>
            <a:r>
              <a:t>2. Giỏ Hàng Thanh Toán (Payment Cart)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Mục đích &amp; Cách hoạt động: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Lưu giữ thông tin ghế đã chọn và tổng tiền chờ thanh toán trên RAM.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Không lưu giỏ hàng nháp vào SQL Server giúp giảm tải ghi đĩa.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Thiết lập TTL 10 phút (600 giây). Nếu không thanh toán, giỏ hàng tự hủy.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10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&gt;_ REDIS CLI</a:t>
            </a:r>
          </a:p>
          <a:p>
            <a:pPr>
              <a:spcAft>
                <a:spcPts val="3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# Tạo giỏ hàng có cấu trúc của user 'le_ngoc_anh'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HSET cart:le_ngoc_anh lichChieuId "102" danhSachGhe "15,16" tongTien "180000"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# Cài đặt thời gian hết hạn giỏ hàng 10 phút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EXPIRE cart:le_ngoc_anh 600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# Đọc toàn bộ giỏ hàng và kiểm tra TTL còn lại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HGETALL cart:le_ngoc_anh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TTL cart:le_ngoc_anh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PHẦN 1: REDIS CACHING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E11D48"/>
                </a:solidFill>
                <a:latin typeface="Segoe UI"/>
              </a:defRPr>
            </a:pPr>
            <a:r>
              <a:t>3. Mã Xác Thực OTP Gmail Khi Đặt Vé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Mục đích &amp; Cách hoạt động: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Sinh mã OTP ngẫu nhiên 6 số, gửi mail thật thông qua Gmail SMTP.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Lưu mã lên Redis với thời gian sống cực ngắn (2 phút / 120s).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Cơ chế tự xóa sau khi xác thực thành công giúp chống tấn công lặp lại (Anti-Replay).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10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&gt;_ REDIS CLI</a:t>
            </a:r>
          </a:p>
          <a:p>
            <a:pPr>
              <a:spcAft>
                <a:spcPts val="3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# Lưu mã OTP '849201' đếm ngược trong 120 giây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SET otp:checkout:le_ngoc_anh "849201" EX 120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# Đọc đối so khớp dữ liệu người dùng nhập vào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GET otp:checkout:le_ngoc_anh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# Xóa ngay lập tức mã OTP sau khi xác nhận khớp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DEL otp:checkout:le_ngoc_anh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PHẦN 1: REDIS CACHING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E11D48"/>
                </a:solidFill>
                <a:latin typeface="Segoe UI"/>
              </a:defRPr>
            </a:pPr>
            <a:r>
              <a:t>4. Quản Lý Session Người Dùng Đăng Nhập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Mục đích &amp; Cách hoạt động: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Lưu trữ trạng thái đăng nhập, họ tên, quyền hạn khi đăng nhập thành công.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Giúp hệ thống kiểm tra quyền hạn cực nhanh trên RAM mà không cần gọi SQL Server.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Hủy session khi người dùng bấm Đăng xuất (Sign Out) hoặc hết hạn 30 phút.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10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&gt;_ REDIS CLI</a:t>
            </a:r>
          </a:p>
          <a:p>
            <a:pPr>
              <a:spcAft>
                <a:spcPts val="3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# Lưu thông tin Session đăng nhập dưới dạng Hash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HSET session:user:le_ngoc_anh userId "5" roleName "Customer" fullName "Le Ngoc Anh"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# Cài đặt thời gian sống phiên hoạt động là 30 phút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EXPIRE session:user:le_ngoc_anh 1800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# Xóa Session khi người dùng click Đăng xuất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DEL session:user:le_ngoc_anh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PHẦN 2: NEO4J GRAPH 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E11D48"/>
                </a:solidFill>
                <a:latin typeface="Segoe UI"/>
              </a:defRPr>
            </a:pPr>
            <a:r>
              <a:t>Mô Hình Thiết Kế Đồ Thị Neo4j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Cấu trúc thiết kế nút (Nodes) và quan hệ liên kết (Relationships):</a:t>
            </a:r>
          </a:p>
          <a:p>
            <a:pPr>
              <a:spcAft>
                <a:spcPts val="600"/>
              </a:spcAft>
              <a:defRPr sz="1500" b="1">
                <a:solidFill>
                  <a:srgbClr val="E11D48"/>
                </a:solidFill>
                <a:latin typeface="Segoe UI"/>
              </a:defRPr>
            </a:pPr>
            <a:r>
              <a:t>• Nút Thể loại (:Genre): </a:t>
            </a:r>
            <a:r>
              <a:rPr sz="1500">
                <a:solidFill>
                  <a:srgbClr val="F3F4F6"/>
                </a:solidFill>
                <a:latin typeface="Segoe UI"/>
              </a:rPr>
              <a:t>Lưu trữ mã và tên thể loại phim (`genreId`, `genreName`).</a:t>
            </a:r>
          </a:p>
          <a:p>
            <a:pPr>
              <a:spcAft>
                <a:spcPts val="600"/>
              </a:spcAft>
              <a:defRPr sz="1500" b="1">
                <a:solidFill>
                  <a:srgbClr val="E11D48"/>
                </a:solidFill>
                <a:latin typeface="Segoe UI"/>
              </a:defRPr>
            </a:pPr>
            <a:r>
              <a:t>• Nút Bộ phim (:Movie): </a:t>
            </a:r>
            <a:r>
              <a:rPr sz="1500">
                <a:solidFill>
                  <a:srgbClr val="F3F4F6"/>
                </a:solidFill>
                <a:latin typeface="Segoe UI"/>
              </a:rPr>
              <a:t>Lưu trữ phim rạp (`movieId`, `title`, `poster`, `duration`).</a:t>
            </a:r>
          </a:p>
          <a:p>
            <a:pPr>
              <a:spcAft>
                <a:spcPts val="600"/>
              </a:spcAft>
              <a:defRPr sz="1500" b="1">
                <a:solidFill>
                  <a:srgbClr val="E11D48"/>
                </a:solidFill>
                <a:latin typeface="Segoe UI"/>
              </a:defRPr>
            </a:pPr>
            <a:r>
              <a:t>• Nút Người dùng (:User): </a:t>
            </a:r>
            <a:r>
              <a:rPr sz="1500">
                <a:solidFill>
                  <a:srgbClr val="F3F4F6"/>
                </a:solidFill>
                <a:latin typeface="Segoe UI"/>
              </a:rPr>
              <a:t>Định danh khách hàng đăng nhập (`userId`, `username`).</a:t>
            </a:r>
          </a:p>
          <a:p>
            <a:pPr>
              <a:spcAft>
                <a:spcPts val="600"/>
              </a:spcAft>
              <a:defRPr sz="1500" b="1">
                <a:solidFill>
                  <a:srgbClr val="E11D48"/>
                </a:solidFill>
                <a:latin typeface="Segoe UI"/>
              </a:defRPr>
            </a:pPr>
            <a:r>
              <a:t>• Quan hệ phân loại (:BELONGS_TO): </a:t>
            </a:r>
            <a:r>
              <a:rPr sz="1500">
                <a:solidFill>
                  <a:srgbClr val="F3F4F6"/>
                </a:solidFill>
                <a:latin typeface="Segoe UI"/>
              </a:rPr>
              <a:t>Nối từ `:Movie` tới `:Genre` (Biểu diễn phim thuộc thể loại nào).</a:t>
            </a:r>
          </a:p>
          <a:p>
            <a:pPr>
              <a:spcAft>
                <a:spcPts val="600"/>
              </a:spcAft>
              <a:defRPr sz="1500" b="1">
                <a:solidFill>
                  <a:srgbClr val="E11D48"/>
                </a:solidFill>
                <a:latin typeface="Segoe UI"/>
              </a:defRPr>
            </a:pPr>
            <a:r>
              <a:t>• Quan hệ thả tim (:FAVORITE): </a:t>
            </a:r>
            <a:r>
              <a:rPr sz="1500">
                <a:solidFill>
                  <a:srgbClr val="F3F4F6"/>
                </a:solidFill>
                <a:latin typeface="Segoe UI"/>
              </a:rPr>
              <a:t>Nối từ `:User` tới `:Movie` kèm thuộc tính thời gian thích `createdAt`.</a:t>
            </a:r>
          </a:p>
          <a:p>
            <a:pPr>
              <a:spcAft>
                <a:spcPts val="600"/>
              </a:spcAft>
              <a:defRPr sz="1500" b="1">
                <a:solidFill>
                  <a:srgbClr val="E11D48"/>
                </a:solidFill>
                <a:latin typeface="Segoe UI"/>
              </a:defRPr>
            </a:pPr>
            <a:r>
              <a:t>• Quan hệ đặt vé (:BOOKED): </a:t>
            </a:r>
            <a:r>
              <a:rPr sz="1500">
                <a:solidFill>
                  <a:srgbClr val="F3F4F6"/>
                </a:solidFill>
                <a:latin typeface="Segoe UI"/>
              </a:rPr>
              <a:t>Nối từ `:User` tới `:Movie` kèm các thuộc tính giao dịch hóa đơn (`bookingId`, `seatCount`, `totalAmount`, `date`).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PHẦN 2: NEO4J GRAPH 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E11D48"/>
                </a:solidFill>
                <a:latin typeface="Segoe UI"/>
              </a:defRPr>
            </a:pPr>
            <a:r>
              <a:t>Truy Vấn Thống Kê &amp; Phân Tích Đồ Thị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Phân tích số liệu đồ thị rạp phim: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Thống kê xếp hạng các phim được đặt vé nhiều nhất dựa trên quan hệ :BOOKED.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Xác định phim được thả tim nhiều nhất từ quan hệ :FAVORITE.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Tính toán điểm số thị hiếu (Popularity Score) của các thể loại phim dựa trên tổng tương tác đồ thị rạp phim.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10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&gt;_ NEO4J CYPHER</a:t>
            </a:r>
          </a:p>
          <a:p>
            <a:pPr>
              <a:spcAft>
                <a:spcPts val="3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// Lọc TOP 5 phim được đặt vé nhiều nhất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MATCH (u:User)-[r:BOOKED]-&gt;(m:Movie)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RETURN m.movieId AS MovieId, m.title AS Title,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       COUNT(r) AS BookingCount,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       SUM(r.seatCount) AS TotalSeats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ORDER BY BookingCount DESC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LIMIT 5;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PHẦN 2: NEO4J GRAPH 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E11D48"/>
                </a:solidFill>
                <a:latin typeface="Segoe UI"/>
              </a:defRPr>
            </a:pPr>
            <a:r>
              <a:t>Gợi Ý Phim Thông Minh (Collaborative Filtering)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Cơ chế gợi ý theo gu khách hàng: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Sử dụng quan hệ bắc cầu trong đồ thị để liên kết thói quen người xem.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Tìm kiếm những người dùng cùng đặt mua vé xem bộ phim X (Ví dụ: ID 1).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Đề xuất những bộ phim khác mà những người cùng gu này cũng đặt mua vé.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Đây là thuật toán đề xuất phim thông minh theo nhóm hành vi, tối ưu hóa việc cá nhân hóa trải nghiệm.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10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&gt;_ NEO4J CYPHER</a:t>
            </a:r>
          </a:p>
          <a:p>
            <a:pPr>
              <a:spcAft>
                <a:spcPts val="3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// Tìm phim liên quan được đặt mua cùng suất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MATCH (u:User)-[:BOOKED]-&gt;(m1:Movie {movieId: 1})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MATCH (u)-[:BOOKED]-&gt;(m2:Movie)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WHERE m1 &lt;&gt; m2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RETURN m2.title AS RelatedMovieTitle,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       COUNT(u) AS CoBookedCount</a:t>
            </a:r>
          </a:p>
          <a:p>
            <a:pPr>
              <a:spcAft>
                <a:spcPts val="300"/>
              </a:spcAft>
              <a:defRPr sz="1100">
                <a:solidFill>
                  <a:srgbClr val="F3F4F6"/>
                </a:solidFill>
                <a:latin typeface="Consolas"/>
              </a:defRPr>
            </a:pPr>
            <a:r>
              <a:t>ORDER BY CoBookedCount DESC;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BÁO CÁO 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E11D48"/>
                </a:solidFill>
                <a:latin typeface="Segoe UI"/>
              </a:defRPr>
            </a:pPr>
            <a:r>
              <a:t>Tổng Kết Hiệu Quả Đồ Án NoSQL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F59E0B"/>
                </a:solidFill>
                <a:latin typeface="Segoe UI"/>
              </a:defRPr>
            </a:pPr>
            <a:r>
              <a:t>Hiệu quả thực tiễn từ kiến trúc tích hợp NoSQL:</a:t>
            </a:r>
          </a:p>
          <a:p>
            <a:pPr>
              <a:spcAft>
                <a:spcPts val="1200"/>
              </a:spcAft>
              <a:defRPr sz="1600">
                <a:solidFill>
                  <a:srgbClr val="F3F4F6"/>
                </a:solidFill>
                <a:latin typeface="Segoe UI"/>
              </a:defRPr>
            </a:pPr>
            <a:r>
              <a:t>✔ Tối ưu hóa hiệu năng tối đa: Phân chia rõ ràng giữa lưu trữ giao dịch (SQL Server), caching RAM (Redis) và xử lý phân tích đề xuất gợi ý đồ thị (Neo4j).</a:t>
            </a:r>
          </a:p>
          <a:p>
            <a:pPr>
              <a:spcAft>
                <a:spcPts val="1200"/>
              </a:spcAft>
              <a:defRPr sz="1600">
                <a:solidFill>
                  <a:srgbClr val="F3F4F6"/>
                </a:solidFill>
                <a:latin typeface="Segoe UI"/>
              </a:defRPr>
            </a:pPr>
            <a:r>
              <a:t>✔ Giải quyết triệt để tranh chấp: Seat Lock thời gian thực bảo vệ trải nghiệm người dùng đặt ghế phim.</a:t>
            </a:r>
          </a:p>
          <a:p>
            <a:pPr>
              <a:spcAft>
                <a:spcPts val="1200"/>
              </a:spcAft>
              <a:defRPr sz="1600">
                <a:solidFill>
                  <a:srgbClr val="F3F4F6"/>
                </a:solidFill>
                <a:latin typeface="Segoe UI"/>
              </a:defRPr>
            </a:pPr>
            <a:r>
              <a:t>✔ Cá nhân hóa trải nghiệm khách hàng: Công cụ gợi ý phim chính xác dựa trên cấu trúc liên kết đồ thị mạng xã hội trực quan.</a:t>
            </a:r>
          </a:p>
          <a:p>
            <a:pPr>
              <a:spcAft>
                <a:spcPts val="1200"/>
              </a:spcAft>
              <a:defRPr sz="1600">
                <a:solidFill>
                  <a:srgbClr val="F3F4F6"/>
                </a:solidFill>
                <a:latin typeface="Segoe UI"/>
              </a:defRPr>
            </a:pPr>
            <a:r>
              <a:t>✔ Khả năng mở rộng vượt trội: Schema linh hoạt dễ dàng bổ sung các tính năng NoSQL mới trong tương lai.</a:t>
            </a:r>
          </a:p>
          <a:p>
            <a:pPr>
              <a:spcBef>
                <a:spcPts val="3000"/>
              </a:spcBef>
              <a:defRPr sz="2000" b="1" i="1">
                <a:solidFill>
                  <a:srgbClr val="E11D48"/>
                </a:solidFill>
                <a:latin typeface="Segoe UI"/>
              </a:defRPr>
            </a:pPr>
            <a:r>
              <a:t>Cảm ơn Cô và các Bạn đã lắng nghe phần thuyết trình báo cáo Đồ án NoSQL!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